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70" r:id="rId5"/>
    <p:sldId id="272" r:id="rId6"/>
    <p:sldId id="271" r:id="rId7"/>
    <p:sldId id="275" r:id="rId8"/>
    <p:sldId id="273" r:id="rId9"/>
    <p:sldId id="274" r:id="rId10"/>
    <p:sldId id="266" r:id="rId11"/>
    <p:sldId id="267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4660"/>
  </p:normalViewPr>
  <p:slideViewPr>
    <p:cSldViewPr>
      <p:cViewPr varScale="1">
        <p:scale>
          <a:sx n="67" d="100"/>
          <a:sy n="67" d="100"/>
        </p:scale>
        <p:origin x="76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34" y="-3859"/>
            <a:ext cx="10768330" cy="148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692" y="1790636"/>
            <a:ext cx="5364480" cy="146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github.com/RematePos/RematePo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fif"/><Relationship Id="rId4" Type="http://schemas.openxmlformats.org/officeDocument/2006/relationships/image" Target="../media/image22.jf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573214" y="1895472"/>
            <a:ext cx="5222558" cy="2555187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err="1" smtClean="0">
                <a:solidFill>
                  <a:srgbClr val="001F5F"/>
                </a:solidFill>
                <a:latin typeface="Segoe UI"/>
                <a:cs typeface="Segoe UI"/>
              </a:rPr>
              <a:t>Weekly</a:t>
            </a: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 11</a:t>
            </a:r>
          </a:p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RELEASE 1.2 15/04/2026</a:t>
            </a:r>
            <a:endParaRPr sz="540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575" y="4962524"/>
            <a:ext cx="3285490" cy="116788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Kevin Santiago Cuesta Hernández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Juan Sebastián Murcia Vargas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Carlos Andrés Villamil </a:t>
            </a:r>
            <a:r>
              <a:rPr lang="es-CO" b="1" dirty="0" err="1" smtClean="0">
                <a:latin typeface="Calibri Light"/>
                <a:cs typeface="Calibri Light"/>
              </a:rPr>
              <a:t>Yusunguaira</a:t>
            </a:r>
            <a:endParaRPr lang="es-CO" b="1" dirty="0" smtClean="0">
              <a:latin typeface="Calibri Light"/>
              <a:cs typeface="Calibri Light"/>
            </a:endParaRP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Andrés Felipe Ardila Fajardo</a:t>
            </a:r>
            <a:endParaRPr b="1" dirty="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0" y="-2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sp>
        <p:nvSpPr>
          <p:cNvPr id="16" name="object 11"/>
          <p:cNvSpPr txBox="1"/>
          <p:nvPr/>
        </p:nvSpPr>
        <p:spPr>
          <a:xfrm>
            <a:off x="5795773" y="588384"/>
            <a:ext cx="6477000" cy="2614177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l">
              <a:spcBef>
                <a:spcPts val="225"/>
              </a:spcBef>
            </a:pPr>
            <a:r>
              <a:rPr lang="es-419" sz="2800" b="1" dirty="0" smtClean="0">
                <a:solidFill>
                  <a:srgbClr val="002060"/>
                </a:solidFill>
                <a:latin typeface="Segoe UI"/>
                <a:cs typeface="Segoe UI"/>
              </a:rPr>
              <a:t>Diseño e implementación de un sistema POS basado en microservicios para facturación electrónica, integrado con un proveedor tecnológico autorizado por la DIAN conforme a la normativa vigente.</a:t>
            </a:r>
            <a:endParaRPr sz="2800" b="1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1" t="12223" r="1111" b="22221"/>
          <a:stretch/>
        </p:blipFill>
        <p:spPr>
          <a:xfrm>
            <a:off x="6255776" y="3286124"/>
            <a:ext cx="5114441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-3859"/>
            <a:ext cx="10768330" cy="1236862"/>
          </a:xfrm>
          <a:prstGeom prst="rect">
            <a:avLst/>
          </a:prstGeom>
        </p:spPr>
        <p:txBody>
          <a:bodyPr vert="horz" wrap="square" lIns="0" tIns="73722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25"/>
              </a:spcBef>
            </a:pPr>
            <a:r>
              <a:rPr lang="es-CO" sz="3200" dirty="0" smtClean="0"/>
              <a:t>INTRODUCCIÓN </a:t>
            </a:r>
            <a:endParaRPr sz="32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483363"/>
            <a:ext cx="5634035" cy="5425588"/>
          </a:xfrm>
          <a:prstGeom prst="rect">
            <a:avLst/>
          </a:prstGeom>
        </p:spPr>
        <p:txBody>
          <a:bodyPr vert="horz" wrap="square" lIns="0" tIns="4445" rIns="0" bIns="0" numCol="1" rtlCol="0">
            <a:spAutoFit/>
          </a:bodyPr>
          <a:lstStyle/>
          <a:p>
            <a:r>
              <a:rPr lang="es-419" sz="1600" dirty="0" smtClean="0"/>
              <a:t>El presente proyecto consiste en el diseño e implementación de un </a:t>
            </a:r>
            <a:r>
              <a:rPr lang="es-419" sz="1600" b="1" dirty="0" smtClean="0"/>
              <a:t>sistema POS (Point of Sale) distribuido</a:t>
            </a:r>
            <a:r>
              <a:rPr lang="es-419" sz="1600" dirty="0" smtClean="0"/>
              <a:t>, orientado a la gestión de inventarios y ventas en </a:t>
            </a:r>
            <a:r>
              <a:rPr lang="es-419" sz="1600" b="1" dirty="0" smtClean="0"/>
              <a:t>cacharrerías y locales de remates</a:t>
            </a:r>
            <a:r>
              <a:rPr lang="es-419" sz="1600" dirty="0" smtClean="0"/>
              <a:t>, caracterizados por la alta rotación y variedad de productos.</a:t>
            </a:r>
          </a:p>
          <a:p>
            <a:r>
              <a:rPr lang="es-419" sz="1600" dirty="0" smtClean="0"/>
              <a:t>El sistema busca dar solución a los problemas de control manual y falta de trazabilidad en los procesos de venta, mediante el registro organizado de operaciones, el control de inventarios por bodega o local y la administración eficiente de productos.</a:t>
            </a:r>
          </a:p>
          <a:p>
            <a:r>
              <a:rPr lang="es-419" sz="1600" dirty="0" smtClean="0"/>
              <a:t>Adicionalmente, el proyecto incorpora funcionalidades de </a:t>
            </a:r>
            <a:r>
              <a:rPr lang="es-419" sz="1600" b="1" dirty="0" smtClean="0"/>
              <a:t>facturación electrónica</a:t>
            </a:r>
            <a:r>
              <a:rPr lang="es-419" sz="1600" dirty="0" smtClean="0"/>
              <a:t>, permitiendo la generación de documentos electrónicos, el manejo de estados de validación y la trazabilidad de las facturas. Para garantizar el cumplimiento con la normativa colombiana vigente, se integrará un </a:t>
            </a:r>
            <a:r>
              <a:rPr lang="es-419" sz="1600" b="1" dirty="0" smtClean="0"/>
              <a:t>proveedor tecnológico autorizado por la DIAN</a:t>
            </a:r>
            <a:r>
              <a:rPr lang="es-419" sz="1600" dirty="0" smtClean="0"/>
              <a:t>, actuando como intermediario para la gestión de la facturación electrónica.</a:t>
            </a:r>
          </a:p>
          <a:p>
            <a:r>
              <a:rPr lang="es-419" sz="1600" dirty="0" smtClean="0"/>
              <a:t>Todo esto se desarrolla bajo una arquitectura distribuida, escalable y organizada, adecuada para el análisis y desarrollo de sistemas distribuidos con fines académicos.</a:t>
            </a:r>
          </a:p>
          <a:p>
            <a:pPr marL="12700" marR="5080">
              <a:lnSpc>
                <a:spcPct val="104900"/>
              </a:lnSpc>
              <a:spcBef>
                <a:spcPts val="35"/>
              </a:spcBef>
            </a:pPr>
            <a:endParaRPr sz="155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1236" y="0"/>
            <a:ext cx="7072630" cy="6858000"/>
            <a:chOff x="5119832" y="0"/>
            <a:chExt cx="7072630" cy="6858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9832" y="0"/>
              <a:ext cx="7072167" cy="6858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58049" y="1657350"/>
              <a:ext cx="4733925" cy="4552950"/>
            </a:xfrm>
            <a:custGeom>
              <a:avLst/>
              <a:gdLst/>
              <a:ahLst/>
              <a:cxnLst/>
              <a:rect l="l" t="t" r="r" b="b"/>
              <a:pathLst>
                <a:path w="4733925" h="4552950">
                  <a:moveTo>
                    <a:pt x="3733038" y="0"/>
                  </a:moveTo>
                  <a:lnTo>
                    <a:pt x="0" y="455929"/>
                  </a:lnTo>
                  <a:lnTo>
                    <a:pt x="891540" y="4552950"/>
                  </a:lnTo>
                  <a:lnTo>
                    <a:pt x="4733925" y="4037215"/>
                  </a:lnTo>
                  <a:lnTo>
                    <a:pt x="3733038" y="0"/>
                  </a:lnTo>
                  <a:close/>
                </a:path>
              </a:pathLst>
            </a:custGeom>
            <a:solidFill>
              <a:srgbClr val="C7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9574" y="1657350"/>
              <a:ext cx="3429000" cy="1876425"/>
            </a:xfrm>
            <a:custGeom>
              <a:avLst/>
              <a:gdLst/>
              <a:ahLst/>
              <a:cxnLst/>
              <a:rect l="l" t="t" r="r" b="b"/>
              <a:pathLst>
                <a:path w="3429000" h="1876425">
                  <a:moveTo>
                    <a:pt x="2965323" y="0"/>
                  </a:moveTo>
                  <a:lnTo>
                    <a:pt x="822198" y="261620"/>
                  </a:lnTo>
                  <a:lnTo>
                    <a:pt x="0" y="1515999"/>
                  </a:lnTo>
                  <a:lnTo>
                    <a:pt x="3429000" y="1876425"/>
                  </a:lnTo>
                  <a:lnTo>
                    <a:pt x="2965323" y="0"/>
                  </a:lnTo>
                  <a:close/>
                </a:path>
              </a:pathLst>
            </a:custGeom>
            <a:solidFill>
              <a:srgbClr val="7B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4875" y="1638300"/>
              <a:ext cx="1552575" cy="685800"/>
            </a:xfrm>
            <a:custGeom>
              <a:avLst/>
              <a:gdLst/>
              <a:ahLst/>
              <a:cxnLst/>
              <a:rect l="l" t="t" r="r" b="b"/>
              <a:pathLst>
                <a:path w="1552575" h="685800">
                  <a:moveTo>
                    <a:pt x="1552575" y="0"/>
                  </a:moveTo>
                  <a:lnTo>
                    <a:pt x="567817" y="149225"/>
                  </a:lnTo>
                  <a:lnTo>
                    <a:pt x="0" y="685800"/>
                  </a:lnTo>
                  <a:lnTo>
                    <a:pt x="1552575" y="26936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ACA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899" y="2105025"/>
              <a:ext cx="628650" cy="511175"/>
            </a:xfrm>
            <a:custGeom>
              <a:avLst/>
              <a:gdLst/>
              <a:ahLst/>
              <a:cxnLst/>
              <a:rect l="l" t="t" r="r" b="b"/>
              <a:pathLst>
                <a:path w="628650" h="511175">
                  <a:moveTo>
                    <a:pt x="399669" y="0"/>
                  </a:moveTo>
                  <a:lnTo>
                    <a:pt x="0" y="396748"/>
                  </a:lnTo>
                  <a:lnTo>
                    <a:pt x="10916" y="404512"/>
                  </a:lnTo>
                  <a:lnTo>
                    <a:pt x="40751" y="424195"/>
                  </a:lnTo>
                  <a:lnTo>
                    <a:pt x="85135" y="450379"/>
                  </a:lnTo>
                  <a:lnTo>
                    <a:pt x="139700" y="477647"/>
                  </a:lnTo>
                  <a:lnTo>
                    <a:pt x="190244" y="495867"/>
                  </a:lnTo>
                  <a:lnTo>
                    <a:pt x="241538" y="507968"/>
                  </a:lnTo>
                  <a:lnTo>
                    <a:pt x="291379" y="510686"/>
                  </a:lnTo>
                  <a:lnTo>
                    <a:pt x="337566" y="500761"/>
                  </a:lnTo>
                  <a:lnTo>
                    <a:pt x="435447" y="439473"/>
                  </a:lnTo>
                  <a:lnTo>
                    <a:pt x="529685" y="357266"/>
                  </a:lnTo>
                  <a:lnTo>
                    <a:pt x="600634" y="285180"/>
                  </a:lnTo>
                  <a:lnTo>
                    <a:pt x="628650" y="254253"/>
                  </a:lnTo>
                  <a:lnTo>
                    <a:pt x="574294" y="192659"/>
                  </a:lnTo>
                  <a:lnTo>
                    <a:pt x="399669" y="0"/>
                  </a:lnTo>
                  <a:close/>
                </a:path>
              </a:pathLst>
            </a:custGeom>
            <a:solidFill>
              <a:srgbClr val="D7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86775" y="2295525"/>
              <a:ext cx="485775" cy="320675"/>
            </a:xfrm>
            <a:custGeom>
              <a:avLst/>
              <a:gdLst/>
              <a:ahLst/>
              <a:cxnLst/>
              <a:rect l="l" t="t" r="r" b="b"/>
              <a:pathLst>
                <a:path w="485775" h="320675">
                  <a:moveTo>
                    <a:pt x="431800" y="0"/>
                  </a:moveTo>
                  <a:lnTo>
                    <a:pt x="273591" y="77829"/>
                  </a:lnTo>
                  <a:lnTo>
                    <a:pt x="143589" y="154574"/>
                  </a:lnTo>
                  <a:lnTo>
                    <a:pt x="55520" y="213151"/>
                  </a:lnTo>
                  <a:lnTo>
                    <a:pt x="23114" y="236474"/>
                  </a:lnTo>
                  <a:lnTo>
                    <a:pt x="5254" y="274657"/>
                  </a:lnTo>
                  <a:lnTo>
                    <a:pt x="0" y="286892"/>
                  </a:lnTo>
                  <a:lnTo>
                    <a:pt x="50238" y="305204"/>
                  </a:lnTo>
                  <a:lnTo>
                    <a:pt x="101203" y="317373"/>
                  </a:lnTo>
                  <a:lnTo>
                    <a:pt x="150715" y="320111"/>
                  </a:lnTo>
                  <a:lnTo>
                    <a:pt x="196596" y="310134"/>
                  </a:lnTo>
                  <a:lnTo>
                    <a:pt x="293858" y="248481"/>
                  </a:lnTo>
                  <a:lnTo>
                    <a:pt x="387476" y="165719"/>
                  </a:lnTo>
                  <a:lnTo>
                    <a:pt x="457950" y="93124"/>
                  </a:lnTo>
                  <a:lnTo>
                    <a:pt x="485775" y="61975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4" y="634807"/>
              <a:ext cx="4238625" cy="6223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77200" y="1943099"/>
              <a:ext cx="3571875" cy="2514600"/>
            </a:xfrm>
            <a:custGeom>
              <a:avLst/>
              <a:gdLst/>
              <a:ahLst/>
              <a:cxnLst/>
              <a:rect l="l" t="t" r="r" b="b"/>
              <a:pathLst>
                <a:path w="3571875" h="2514600">
                  <a:moveTo>
                    <a:pt x="3571875" y="1940179"/>
                  </a:moveTo>
                  <a:lnTo>
                    <a:pt x="3414395" y="1733550"/>
                  </a:lnTo>
                  <a:lnTo>
                    <a:pt x="3198152" y="1847938"/>
                  </a:lnTo>
                  <a:lnTo>
                    <a:pt x="3190367" y="1828800"/>
                  </a:lnTo>
                  <a:lnTo>
                    <a:pt x="3171139" y="1778000"/>
                  </a:lnTo>
                  <a:lnTo>
                    <a:pt x="3148596" y="1727200"/>
                  </a:lnTo>
                  <a:lnTo>
                    <a:pt x="3123107" y="1676400"/>
                  </a:lnTo>
                  <a:lnTo>
                    <a:pt x="3095104" y="1625600"/>
                  </a:lnTo>
                  <a:lnTo>
                    <a:pt x="3064954" y="1562100"/>
                  </a:lnTo>
                  <a:lnTo>
                    <a:pt x="3033090" y="1511300"/>
                  </a:lnTo>
                  <a:lnTo>
                    <a:pt x="2999867" y="1460500"/>
                  </a:lnTo>
                  <a:lnTo>
                    <a:pt x="2965716" y="1409700"/>
                  </a:lnTo>
                  <a:lnTo>
                    <a:pt x="2931020" y="1358900"/>
                  </a:lnTo>
                  <a:lnTo>
                    <a:pt x="2861589" y="1282700"/>
                  </a:lnTo>
                  <a:lnTo>
                    <a:pt x="2827655" y="1257300"/>
                  </a:lnTo>
                  <a:lnTo>
                    <a:pt x="2800769" y="1231900"/>
                  </a:lnTo>
                  <a:lnTo>
                    <a:pt x="2773311" y="1219200"/>
                  </a:lnTo>
                  <a:lnTo>
                    <a:pt x="2745409" y="1193800"/>
                  </a:lnTo>
                  <a:lnTo>
                    <a:pt x="2717177" y="1181100"/>
                  </a:lnTo>
                  <a:lnTo>
                    <a:pt x="2688729" y="1155700"/>
                  </a:lnTo>
                  <a:lnTo>
                    <a:pt x="2660180" y="1143000"/>
                  </a:lnTo>
                  <a:lnTo>
                    <a:pt x="2603284" y="1092200"/>
                  </a:lnTo>
                  <a:lnTo>
                    <a:pt x="2575166" y="1054100"/>
                  </a:lnTo>
                  <a:lnTo>
                    <a:pt x="2547416" y="1028700"/>
                  </a:lnTo>
                  <a:lnTo>
                    <a:pt x="2520162" y="990600"/>
                  </a:lnTo>
                  <a:lnTo>
                    <a:pt x="2493530" y="952500"/>
                  </a:lnTo>
                  <a:lnTo>
                    <a:pt x="2467622" y="914400"/>
                  </a:lnTo>
                  <a:lnTo>
                    <a:pt x="2442565" y="876300"/>
                  </a:lnTo>
                  <a:lnTo>
                    <a:pt x="2418473" y="825500"/>
                  </a:lnTo>
                  <a:lnTo>
                    <a:pt x="2395474" y="774700"/>
                  </a:lnTo>
                  <a:lnTo>
                    <a:pt x="2373668" y="711200"/>
                  </a:lnTo>
                  <a:lnTo>
                    <a:pt x="2353183" y="647700"/>
                  </a:lnTo>
                  <a:lnTo>
                    <a:pt x="2334145" y="584200"/>
                  </a:lnTo>
                  <a:lnTo>
                    <a:pt x="2316657" y="508000"/>
                  </a:lnTo>
                  <a:lnTo>
                    <a:pt x="2300859" y="431800"/>
                  </a:lnTo>
                  <a:lnTo>
                    <a:pt x="2282850" y="342900"/>
                  </a:lnTo>
                  <a:lnTo>
                    <a:pt x="2269998" y="279400"/>
                  </a:lnTo>
                  <a:lnTo>
                    <a:pt x="2254453" y="228600"/>
                  </a:lnTo>
                  <a:lnTo>
                    <a:pt x="2238667" y="177800"/>
                  </a:lnTo>
                  <a:lnTo>
                    <a:pt x="2222474" y="127000"/>
                  </a:lnTo>
                  <a:lnTo>
                    <a:pt x="2205748" y="101600"/>
                  </a:lnTo>
                  <a:lnTo>
                    <a:pt x="2188362" y="63500"/>
                  </a:lnTo>
                  <a:lnTo>
                    <a:pt x="2170163" y="50800"/>
                  </a:lnTo>
                  <a:lnTo>
                    <a:pt x="2151024" y="25400"/>
                  </a:lnTo>
                  <a:lnTo>
                    <a:pt x="2130793" y="12700"/>
                  </a:lnTo>
                  <a:lnTo>
                    <a:pt x="2109343" y="12700"/>
                  </a:lnTo>
                  <a:lnTo>
                    <a:pt x="2086533" y="0"/>
                  </a:lnTo>
                  <a:lnTo>
                    <a:pt x="2062226" y="0"/>
                  </a:lnTo>
                  <a:lnTo>
                    <a:pt x="2036279" y="12700"/>
                  </a:lnTo>
                  <a:lnTo>
                    <a:pt x="2008555" y="12700"/>
                  </a:lnTo>
                  <a:lnTo>
                    <a:pt x="1978939" y="25400"/>
                  </a:lnTo>
                  <a:lnTo>
                    <a:pt x="1947252" y="25400"/>
                  </a:lnTo>
                  <a:lnTo>
                    <a:pt x="1913394" y="38100"/>
                  </a:lnTo>
                  <a:lnTo>
                    <a:pt x="1877199" y="50800"/>
                  </a:lnTo>
                  <a:lnTo>
                    <a:pt x="1838553" y="50800"/>
                  </a:lnTo>
                  <a:lnTo>
                    <a:pt x="1797304" y="63500"/>
                  </a:lnTo>
                  <a:lnTo>
                    <a:pt x="1754314" y="63500"/>
                  </a:lnTo>
                  <a:lnTo>
                    <a:pt x="1709216" y="76200"/>
                  </a:lnTo>
                  <a:lnTo>
                    <a:pt x="1662239" y="88900"/>
                  </a:lnTo>
                  <a:lnTo>
                    <a:pt x="1613662" y="88900"/>
                  </a:lnTo>
                  <a:lnTo>
                    <a:pt x="1045845" y="228600"/>
                  </a:lnTo>
                  <a:lnTo>
                    <a:pt x="960628" y="330200"/>
                  </a:lnTo>
                  <a:lnTo>
                    <a:pt x="852170" y="457200"/>
                  </a:lnTo>
                  <a:lnTo>
                    <a:pt x="886104" y="457200"/>
                  </a:lnTo>
                  <a:lnTo>
                    <a:pt x="926477" y="444500"/>
                  </a:lnTo>
                  <a:lnTo>
                    <a:pt x="972286" y="444500"/>
                  </a:lnTo>
                  <a:lnTo>
                    <a:pt x="1022540" y="431800"/>
                  </a:lnTo>
                  <a:lnTo>
                    <a:pt x="1076236" y="419100"/>
                  </a:lnTo>
                  <a:lnTo>
                    <a:pt x="1361655" y="355600"/>
                  </a:lnTo>
                  <a:lnTo>
                    <a:pt x="1415173" y="342900"/>
                  </a:lnTo>
                  <a:lnTo>
                    <a:pt x="1580388" y="342900"/>
                  </a:lnTo>
                  <a:lnTo>
                    <a:pt x="1584198" y="355600"/>
                  </a:lnTo>
                  <a:lnTo>
                    <a:pt x="1591945" y="355600"/>
                  </a:lnTo>
                  <a:lnTo>
                    <a:pt x="1615186" y="368300"/>
                  </a:lnTo>
                  <a:lnTo>
                    <a:pt x="1626870" y="368300"/>
                  </a:lnTo>
                  <a:lnTo>
                    <a:pt x="1626870" y="381000"/>
                  </a:lnTo>
                  <a:lnTo>
                    <a:pt x="1634617" y="381000"/>
                  </a:lnTo>
                  <a:lnTo>
                    <a:pt x="1638427" y="393700"/>
                  </a:lnTo>
                  <a:lnTo>
                    <a:pt x="1642364" y="393700"/>
                  </a:lnTo>
                  <a:lnTo>
                    <a:pt x="1642364" y="406400"/>
                  </a:lnTo>
                  <a:lnTo>
                    <a:pt x="1650111" y="406400"/>
                  </a:lnTo>
                  <a:lnTo>
                    <a:pt x="1650111" y="419100"/>
                  </a:lnTo>
                  <a:lnTo>
                    <a:pt x="1653921" y="419100"/>
                  </a:lnTo>
                  <a:lnTo>
                    <a:pt x="1653921" y="431800"/>
                  </a:lnTo>
                  <a:lnTo>
                    <a:pt x="1657858" y="444500"/>
                  </a:lnTo>
                  <a:lnTo>
                    <a:pt x="1657858" y="482600"/>
                  </a:lnTo>
                  <a:lnTo>
                    <a:pt x="1662214" y="508000"/>
                  </a:lnTo>
                  <a:lnTo>
                    <a:pt x="1663661" y="533400"/>
                  </a:lnTo>
                  <a:lnTo>
                    <a:pt x="1662214" y="558800"/>
                  </a:lnTo>
                  <a:lnTo>
                    <a:pt x="1657858" y="584200"/>
                  </a:lnTo>
                  <a:lnTo>
                    <a:pt x="1659991" y="596900"/>
                  </a:lnTo>
                  <a:lnTo>
                    <a:pt x="1660715" y="596900"/>
                  </a:lnTo>
                  <a:lnTo>
                    <a:pt x="1659991" y="609600"/>
                  </a:lnTo>
                  <a:lnTo>
                    <a:pt x="1657858" y="609600"/>
                  </a:lnTo>
                  <a:lnTo>
                    <a:pt x="1646847" y="660400"/>
                  </a:lnTo>
                  <a:lnTo>
                    <a:pt x="1632407" y="698500"/>
                  </a:lnTo>
                  <a:lnTo>
                    <a:pt x="1614703" y="736600"/>
                  </a:lnTo>
                  <a:lnTo>
                    <a:pt x="1593913" y="762000"/>
                  </a:lnTo>
                  <a:lnTo>
                    <a:pt x="1570228" y="800100"/>
                  </a:lnTo>
                  <a:lnTo>
                    <a:pt x="1543812" y="825500"/>
                  </a:lnTo>
                  <a:lnTo>
                    <a:pt x="1514856" y="838200"/>
                  </a:lnTo>
                  <a:lnTo>
                    <a:pt x="1483525" y="863600"/>
                  </a:lnTo>
                  <a:lnTo>
                    <a:pt x="1450009" y="876300"/>
                  </a:lnTo>
                  <a:lnTo>
                    <a:pt x="1414500" y="889000"/>
                  </a:lnTo>
                  <a:lnTo>
                    <a:pt x="1377149" y="901700"/>
                  </a:lnTo>
                  <a:lnTo>
                    <a:pt x="1338148" y="914400"/>
                  </a:lnTo>
                  <a:lnTo>
                    <a:pt x="1124712" y="914400"/>
                  </a:lnTo>
                  <a:lnTo>
                    <a:pt x="1079576" y="901700"/>
                  </a:lnTo>
                  <a:lnTo>
                    <a:pt x="1034059" y="901700"/>
                  </a:lnTo>
                  <a:lnTo>
                    <a:pt x="806780" y="838200"/>
                  </a:lnTo>
                  <a:lnTo>
                    <a:pt x="762660" y="812800"/>
                  </a:lnTo>
                  <a:lnTo>
                    <a:pt x="677151" y="787400"/>
                  </a:lnTo>
                  <a:lnTo>
                    <a:pt x="636130" y="762000"/>
                  </a:lnTo>
                  <a:lnTo>
                    <a:pt x="596519" y="736600"/>
                  </a:lnTo>
                  <a:lnTo>
                    <a:pt x="551027" y="711200"/>
                  </a:lnTo>
                  <a:lnTo>
                    <a:pt x="507758" y="685800"/>
                  </a:lnTo>
                  <a:lnTo>
                    <a:pt x="467106" y="660400"/>
                  </a:lnTo>
                  <a:lnTo>
                    <a:pt x="429425" y="635000"/>
                  </a:lnTo>
                  <a:lnTo>
                    <a:pt x="395097" y="609600"/>
                  </a:lnTo>
                  <a:lnTo>
                    <a:pt x="383413" y="609600"/>
                  </a:lnTo>
                  <a:lnTo>
                    <a:pt x="375666" y="596900"/>
                  </a:lnTo>
                  <a:lnTo>
                    <a:pt x="340868" y="596900"/>
                  </a:lnTo>
                  <a:lnTo>
                    <a:pt x="336931" y="584200"/>
                  </a:lnTo>
                  <a:lnTo>
                    <a:pt x="321487" y="584200"/>
                  </a:lnTo>
                  <a:lnTo>
                    <a:pt x="309880" y="571500"/>
                  </a:lnTo>
                  <a:lnTo>
                    <a:pt x="282155" y="571500"/>
                  </a:lnTo>
                  <a:lnTo>
                    <a:pt x="256616" y="558800"/>
                  </a:lnTo>
                  <a:lnTo>
                    <a:pt x="232524" y="558800"/>
                  </a:lnTo>
                  <a:lnTo>
                    <a:pt x="209169" y="546100"/>
                  </a:lnTo>
                  <a:lnTo>
                    <a:pt x="103492" y="546100"/>
                  </a:lnTo>
                  <a:lnTo>
                    <a:pt x="64871" y="558800"/>
                  </a:lnTo>
                  <a:lnTo>
                    <a:pt x="30619" y="571500"/>
                  </a:lnTo>
                  <a:lnTo>
                    <a:pt x="0" y="571500"/>
                  </a:lnTo>
                  <a:lnTo>
                    <a:pt x="39535" y="609600"/>
                  </a:lnTo>
                  <a:lnTo>
                    <a:pt x="82054" y="635000"/>
                  </a:lnTo>
                  <a:lnTo>
                    <a:pt x="124942" y="673100"/>
                  </a:lnTo>
                  <a:lnTo>
                    <a:pt x="165595" y="711200"/>
                  </a:lnTo>
                  <a:lnTo>
                    <a:pt x="201422" y="749300"/>
                  </a:lnTo>
                  <a:lnTo>
                    <a:pt x="222402" y="787400"/>
                  </a:lnTo>
                  <a:lnTo>
                    <a:pt x="238671" y="825500"/>
                  </a:lnTo>
                  <a:lnTo>
                    <a:pt x="249872" y="863600"/>
                  </a:lnTo>
                  <a:lnTo>
                    <a:pt x="255651" y="914400"/>
                  </a:lnTo>
                  <a:lnTo>
                    <a:pt x="262051" y="914400"/>
                  </a:lnTo>
                  <a:lnTo>
                    <a:pt x="269176" y="927100"/>
                  </a:lnTo>
                  <a:lnTo>
                    <a:pt x="282702" y="927100"/>
                  </a:lnTo>
                  <a:lnTo>
                    <a:pt x="293725" y="939800"/>
                  </a:lnTo>
                  <a:lnTo>
                    <a:pt x="314337" y="952500"/>
                  </a:lnTo>
                  <a:lnTo>
                    <a:pt x="325374" y="965200"/>
                  </a:lnTo>
                  <a:lnTo>
                    <a:pt x="371856" y="990600"/>
                  </a:lnTo>
                  <a:lnTo>
                    <a:pt x="413105" y="1028700"/>
                  </a:lnTo>
                  <a:lnTo>
                    <a:pt x="536651" y="1104900"/>
                  </a:lnTo>
                  <a:lnTo>
                    <a:pt x="577291" y="1143000"/>
                  </a:lnTo>
                  <a:lnTo>
                    <a:pt x="617435" y="1168400"/>
                  </a:lnTo>
                  <a:lnTo>
                    <a:pt x="656920" y="1193800"/>
                  </a:lnTo>
                  <a:lnTo>
                    <a:pt x="695642" y="1219200"/>
                  </a:lnTo>
                  <a:lnTo>
                    <a:pt x="733425" y="1257300"/>
                  </a:lnTo>
                  <a:lnTo>
                    <a:pt x="770153" y="1282700"/>
                  </a:lnTo>
                  <a:lnTo>
                    <a:pt x="805688" y="1308100"/>
                  </a:lnTo>
                  <a:lnTo>
                    <a:pt x="809498" y="1320800"/>
                  </a:lnTo>
                  <a:lnTo>
                    <a:pt x="821182" y="1320800"/>
                  </a:lnTo>
                  <a:lnTo>
                    <a:pt x="827049" y="1333500"/>
                  </a:lnTo>
                  <a:lnTo>
                    <a:pt x="840219" y="1333500"/>
                  </a:lnTo>
                  <a:lnTo>
                    <a:pt x="848233" y="1346200"/>
                  </a:lnTo>
                  <a:lnTo>
                    <a:pt x="854036" y="1346200"/>
                  </a:lnTo>
                  <a:lnTo>
                    <a:pt x="859853" y="1358900"/>
                  </a:lnTo>
                  <a:lnTo>
                    <a:pt x="871474" y="1358900"/>
                  </a:lnTo>
                  <a:lnTo>
                    <a:pt x="877277" y="1371600"/>
                  </a:lnTo>
                  <a:lnTo>
                    <a:pt x="883094" y="1371600"/>
                  </a:lnTo>
                  <a:lnTo>
                    <a:pt x="888898" y="1384300"/>
                  </a:lnTo>
                  <a:lnTo>
                    <a:pt x="902462" y="1384300"/>
                  </a:lnTo>
                  <a:lnTo>
                    <a:pt x="910209" y="1397000"/>
                  </a:lnTo>
                  <a:lnTo>
                    <a:pt x="964438" y="1447800"/>
                  </a:lnTo>
                  <a:lnTo>
                    <a:pt x="972185" y="1447800"/>
                  </a:lnTo>
                  <a:lnTo>
                    <a:pt x="977988" y="1460500"/>
                  </a:lnTo>
                  <a:lnTo>
                    <a:pt x="989609" y="1460500"/>
                  </a:lnTo>
                  <a:lnTo>
                    <a:pt x="995426" y="1473200"/>
                  </a:lnTo>
                  <a:lnTo>
                    <a:pt x="1003173" y="1473200"/>
                  </a:lnTo>
                  <a:lnTo>
                    <a:pt x="1038821" y="1498600"/>
                  </a:lnTo>
                  <a:lnTo>
                    <a:pt x="1076299" y="1524000"/>
                  </a:lnTo>
                  <a:lnTo>
                    <a:pt x="1115949" y="1549400"/>
                  </a:lnTo>
                  <a:lnTo>
                    <a:pt x="1158113" y="1562100"/>
                  </a:lnTo>
                  <a:lnTo>
                    <a:pt x="1165860" y="1574800"/>
                  </a:lnTo>
                  <a:lnTo>
                    <a:pt x="1194968" y="1574800"/>
                  </a:lnTo>
                  <a:lnTo>
                    <a:pt x="1229829" y="1600200"/>
                  </a:lnTo>
                  <a:lnTo>
                    <a:pt x="1258887" y="1600200"/>
                  </a:lnTo>
                  <a:lnTo>
                    <a:pt x="1270508" y="1612900"/>
                  </a:lnTo>
                  <a:lnTo>
                    <a:pt x="1286002" y="1612900"/>
                  </a:lnTo>
                  <a:lnTo>
                    <a:pt x="1293749" y="1625600"/>
                  </a:lnTo>
                  <a:lnTo>
                    <a:pt x="1329474" y="1625600"/>
                  </a:lnTo>
                  <a:lnTo>
                    <a:pt x="1337767" y="1638300"/>
                  </a:lnTo>
                  <a:lnTo>
                    <a:pt x="1362811" y="1638300"/>
                  </a:lnTo>
                  <a:lnTo>
                    <a:pt x="1383423" y="1651000"/>
                  </a:lnTo>
                  <a:lnTo>
                    <a:pt x="1411859" y="1651000"/>
                  </a:lnTo>
                  <a:lnTo>
                    <a:pt x="1420558" y="1663700"/>
                  </a:lnTo>
                  <a:lnTo>
                    <a:pt x="1464183" y="1663700"/>
                  </a:lnTo>
                  <a:lnTo>
                    <a:pt x="1473466" y="1676400"/>
                  </a:lnTo>
                  <a:lnTo>
                    <a:pt x="1514475" y="1676400"/>
                  </a:lnTo>
                  <a:lnTo>
                    <a:pt x="1518412" y="1689100"/>
                  </a:lnTo>
                  <a:lnTo>
                    <a:pt x="1559534" y="1689100"/>
                  </a:lnTo>
                  <a:lnTo>
                    <a:pt x="1581035" y="1701800"/>
                  </a:lnTo>
                  <a:lnTo>
                    <a:pt x="1624266" y="1701800"/>
                  </a:lnTo>
                  <a:lnTo>
                    <a:pt x="1630680" y="1714500"/>
                  </a:lnTo>
                  <a:lnTo>
                    <a:pt x="1688846" y="1714500"/>
                  </a:lnTo>
                  <a:lnTo>
                    <a:pt x="1706333" y="1727200"/>
                  </a:lnTo>
                  <a:lnTo>
                    <a:pt x="1742744" y="1727200"/>
                  </a:lnTo>
                  <a:lnTo>
                    <a:pt x="1762379" y="1739900"/>
                  </a:lnTo>
                  <a:lnTo>
                    <a:pt x="1801761" y="1739900"/>
                  </a:lnTo>
                  <a:lnTo>
                    <a:pt x="1827631" y="1752600"/>
                  </a:lnTo>
                  <a:lnTo>
                    <a:pt x="1839849" y="1752600"/>
                  </a:lnTo>
                  <a:lnTo>
                    <a:pt x="1884057" y="1765300"/>
                  </a:lnTo>
                  <a:lnTo>
                    <a:pt x="1928977" y="1765300"/>
                  </a:lnTo>
                  <a:lnTo>
                    <a:pt x="1973872" y="1778000"/>
                  </a:lnTo>
                  <a:lnTo>
                    <a:pt x="2018030" y="1778000"/>
                  </a:lnTo>
                  <a:lnTo>
                    <a:pt x="2040610" y="1790700"/>
                  </a:lnTo>
                  <a:lnTo>
                    <a:pt x="2082876" y="1790700"/>
                  </a:lnTo>
                  <a:lnTo>
                    <a:pt x="2103247" y="1803400"/>
                  </a:lnTo>
                  <a:lnTo>
                    <a:pt x="2184654" y="1803400"/>
                  </a:lnTo>
                  <a:lnTo>
                    <a:pt x="2196325" y="1816100"/>
                  </a:lnTo>
                  <a:lnTo>
                    <a:pt x="2242693" y="1816100"/>
                  </a:lnTo>
                  <a:lnTo>
                    <a:pt x="2254313" y="1828800"/>
                  </a:lnTo>
                  <a:lnTo>
                    <a:pt x="2325687" y="1828800"/>
                  </a:lnTo>
                  <a:lnTo>
                    <a:pt x="2339594" y="1841500"/>
                  </a:lnTo>
                  <a:lnTo>
                    <a:pt x="2362835" y="1841500"/>
                  </a:lnTo>
                  <a:lnTo>
                    <a:pt x="2409317" y="1854200"/>
                  </a:lnTo>
                  <a:lnTo>
                    <a:pt x="2455799" y="1854200"/>
                  </a:lnTo>
                  <a:lnTo>
                    <a:pt x="2476106" y="1866900"/>
                  </a:lnTo>
                  <a:lnTo>
                    <a:pt x="2516759" y="1866900"/>
                  </a:lnTo>
                  <a:lnTo>
                    <a:pt x="2537079" y="1879600"/>
                  </a:lnTo>
                  <a:lnTo>
                    <a:pt x="2572004" y="1879600"/>
                  </a:lnTo>
                  <a:lnTo>
                    <a:pt x="2575814" y="1892300"/>
                  </a:lnTo>
                  <a:lnTo>
                    <a:pt x="2607513" y="1892300"/>
                  </a:lnTo>
                  <a:lnTo>
                    <a:pt x="2618486" y="1905000"/>
                  </a:lnTo>
                  <a:lnTo>
                    <a:pt x="2635885" y="1905000"/>
                  </a:lnTo>
                  <a:lnTo>
                    <a:pt x="2644584" y="1917700"/>
                  </a:lnTo>
                  <a:lnTo>
                    <a:pt x="2653284" y="1917700"/>
                  </a:lnTo>
                  <a:lnTo>
                    <a:pt x="2657221" y="1930400"/>
                  </a:lnTo>
                  <a:lnTo>
                    <a:pt x="2672715" y="1930400"/>
                  </a:lnTo>
                  <a:lnTo>
                    <a:pt x="2672715" y="1943100"/>
                  </a:lnTo>
                  <a:lnTo>
                    <a:pt x="2684335" y="1943100"/>
                  </a:lnTo>
                  <a:lnTo>
                    <a:pt x="2690139" y="1955800"/>
                  </a:lnTo>
                  <a:lnTo>
                    <a:pt x="2699766" y="1955800"/>
                  </a:lnTo>
                  <a:lnTo>
                    <a:pt x="2699766" y="1968500"/>
                  </a:lnTo>
                  <a:lnTo>
                    <a:pt x="2706179" y="1968500"/>
                  </a:lnTo>
                  <a:lnTo>
                    <a:pt x="2713355" y="1981200"/>
                  </a:lnTo>
                  <a:lnTo>
                    <a:pt x="2720517" y="1981200"/>
                  </a:lnTo>
                  <a:lnTo>
                    <a:pt x="2726944" y="1993900"/>
                  </a:lnTo>
                  <a:lnTo>
                    <a:pt x="2730754" y="2006600"/>
                  </a:lnTo>
                  <a:lnTo>
                    <a:pt x="2744584" y="2019300"/>
                  </a:lnTo>
                  <a:lnTo>
                    <a:pt x="2756941" y="2044700"/>
                  </a:lnTo>
                  <a:lnTo>
                    <a:pt x="2766022" y="2076538"/>
                  </a:lnTo>
                  <a:lnTo>
                    <a:pt x="2457450" y="2239772"/>
                  </a:lnTo>
                  <a:lnTo>
                    <a:pt x="2457450" y="2514600"/>
                  </a:lnTo>
                  <a:lnTo>
                    <a:pt x="3571875" y="1940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4650" y="3886200"/>
              <a:ext cx="1657350" cy="2971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7925" y="0"/>
              <a:ext cx="5164074" cy="129158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66110" y="3889311"/>
            <a:ext cx="492125" cy="34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RR.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HH.</a:t>
            </a:r>
            <a:endParaRPr sz="1200">
              <a:latin typeface="Calibri"/>
              <a:cs typeface="Calibri"/>
            </a:endParaRPr>
          </a:p>
          <a:p>
            <a:pPr marL="122555">
              <a:lnSpc>
                <a:spcPts val="1075"/>
              </a:lnSpc>
            </a:pP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4081" y="2869406"/>
            <a:ext cx="2519680" cy="2414905"/>
            <a:chOff x="2174081" y="2869406"/>
            <a:chExt cx="2519680" cy="2414905"/>
          </a:xfrm>
        </p:grpSpPr>
        <p:sp>
          <p:nvSpPr>
            <p:cNvPr id="6" name="object 6"/>
            <p:cNvSpPr/>
            <p:nvPr/>
          </p:nvSpPr>
          <p:spPr>
            <a:xfrm>
              <a:off x="3362325" y="34480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9050" y="42799"/>
                  </a:moveTo>
                  <a:lnTo>
                    <a:pt x="22417" y="26146"/>
                  </a:lnTo>
                  <a:lnTo>
                    <a:pt x="31607" y="12541"/>
                  </a:lnTo>
                  <a:lnTo>
                    <a:pt x="45249" y="3365"/>
                  </a:lnTo>
                  <a:lnTo>
                    <a:pt x="61975" y="0"/>
                  </a:lnTo>
                  <a:lnTo>
                    <a:pt x="78628" y="3365"/>
                  </a:lnTo>
                  <a:lnTo>
                    <a:pt x="92233" y="12541"/>
                  </a:lnTo>
                  <a:lnTo>
                    <a:pt x="101409" y="26146"/>
                  </a:lnTo>
                  <a:lnTo>
                    <a:pt x="104775" y="42799"/>
                  </a:lnTo>
                  <a:lnTo>
                    <a:pt x="101409" y="59525"/>
                  </a:lnTo>
                  <a:lnTo>
                    <a:pt x="92233" y="73167"/>
                  </a:lnTo>
                  <a:lnTo>
                    <a:pt x="78628" y="82357"/>
                  </a:lnTo>
                  <a:lnTo>
                    <a:pt x="61975" y="85725"/>
                  </a:lnTo>
                  <a:lnTo>
                    <a:pt x="45249" y="82357"/>
                  </a:lnTo>
                  <a:lnTo>
                    <a:pt x="31607" y="73167"/>
                  </a:lnTo>
                  <a:lnTo>
                    <a:pt x="22417" y="59525"/>
                  </a:lnTo>
                  <a:lnTo>
                    <a:pt x="19050" y="42799"/>
                  </a:lnTo>
                  <a:close/>
                </a:path>
                <a:path w="133350" h="152400">
                  <a:moveTo>
                    <a:pt x="133350" y="152400"/>
                  </a:moveTo>
                  <a:lnTo>
                    <a:pt x="56257" y="152400"/>
                  </a:lnTo>
                  <a:lnTo>
                    <a:pt x="16668" y="152400"/>
                  </a:lnTo>
                  <a:lnTo>
                    <a:pt x="2083" y="152400"/>
                  </a:lnTo>
                  <a:lnTo>
                    <a:pt x="0" y="152400"/>
                  </a:lnTo>
                  <a:lnTo>
                    <a:pt x="5203" y="126337"/>
                  </a:lnTo>
                  <a:lnTo>
                    <a:pt x="19431" y="105155"/>
                  </a:lnTo>
                  <a:lnTo>
                    <a:pt x="40612" y="90928"/>
                  </a:lnTo>
                  <a:lnTo>
                    <a:pt x="66675" y="85725"/>
                  </a:lnTo>
                  <a:lnTo>
                    <a:pt x="92737" y="90928"/>
                  </a:lnTo>
                  <a:lnTo>
                    <a:pt x="113919" y="105156"/>
                  </a:lnTo>
                  <a:lnTo>
                    <a:pt x="128146" y="126337"/>
                  </a:lnTo>
                  <a:lnTo>
                    <a:pt x="133350" y="15240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0406" y="3679031"/>
              <a:ext cx="347662" cy="128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14700" y="3600450"/>
              <a:ext cx="228600" cy="47625"/>
            </a:xfrm>
            <a:custGeom>
              <a:avLst/>
              <a:gdLst/>
              <a:ahLst/>
              <a:cxnLst/>
              <a:rect l="l" t="t" r="r" b="b"/>
              <a:pathLst>
                <a:path w="228600" h="47625">
                  <a:moveTo>
                    <a:pt x="0" y="47625"/>
                  </a:moveTo>
                  <a:lnTo>
                    <a:pt x="0" y="28575"/>
                  </a:lnTo>
                  <a:lnTo>
                    <a:pt x="228600" y="28575"/>
                  </a:lnTo>
                  <a:lnTo>
                    <a:pt x="228600" y="47625"/>
                  </a:lnTo>
                </a:path>
                <a:path w="228600" h="47625">
                  <a:moveTo>
                    <a:pt x="114300" y="0"/>
                  </a:moveTo>
                  <a:lnTo>
                    <a:pt x="114300" y="4762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2781" y="4926806"/>
              <a:ext cx="366712" cy="357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306" y="2936081"/>
              <a:ext cx="338137" cy="261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1025" y="2905125"/>
              <a:ext cx="266700" cy="66675"/>
            </a:xfrm>
            <a:custGeom>
              <a:avLst/>
              <a:gdLst/>
              <a:ahLst/>
              <a:cxnLst/>
              <a:rect l="l" t="t" r="r" b="b"/>
              <a:pathLst>
                <a:path w="266700" h="66675">
                  <a:moveTo>
                    <a:pt x="0" y="66675"/>
                  </a:moveTo>
                  <a:lnTo>
                    <a:pt x="25515" y="39701"/>
                  </a:lnTo>
                  <a:lnTo>
                    <a:pt x="56959" y="18621"/>
                  </a:lnTo>
                  <a:lnTo>
                    <a:pt x="93261" y="4899"/>
                  </a:lnTo>
                  <a:lnTo>
                    <a:pt x="133350" y="0"/>
                  </a:lnTo>
                  <a:lnTo>
                    <a:pt x="173491" y="4899"/>
                  </a:lnTo>
                  <a:lnTo>
                    <a:pt x="209788" y="18621"/>
                  </a:lnTo>
                  <a:lnTo>
                    <a:pt x="241202" y="39701"/>
                  </a:lnTo>
                  <a:lnTo>
                    <a:pt x="266700" y="6667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506" y="3126581"/>
              <a:ext cx="185737" cy="100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3131" y="2869406"/>
              <a:ext cx="309562" cy="3000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81225" y="3162300"/>
              <a:ext cx="342900" cy="57150"/>
            </a:xfrm>
            <a:custGeom>
              <a:avLst/>
              <a:gdLst/>
              <a:ahLst/>
              <a:cxnLst/>
              <a:rect l="l" t="t" r="r" b="b"/>
              <a:pathLst>
                <a:path w="342900" h="57150">
                  <a:moveTo>
                    <a:pt x="283210" y="0"/>
                  </a:moveTo>
                  <a:lnTo>
                    <a:pt x="264548" y="2613"/>
                  </a:lnTo>
                  <a:lnTo>
                    <a:pt x="248316" y="10239"/>
                  </a:lnTo>
                  <a:lnTo>
                    <a:pt x="235561" y="22556"/>
                  </a:lnTo>
                  <a:lnTo>
                    <a:pt x="227330" y="39242"/>
                  </a:lnTo>
                  <a:lnTo>
                    <a:pt x="219152" y="22556"/>
                  </a:lnTo>
                  <a:lnTo>
                    <a:pt x="206390" y="10239"/>
                  </a:lnTo>
                  <a:lnTo>
                    <a:pt x="190128" y="2613"/>
                  </a:lnTo>
                  <a:lnTo>
                    <a:pt x="171450" y="0"/>
                  </a:lnTo>
                  <a:lnTo>
                    <a:pt x="152771" y="2613"/>
                  </a:lnTo>
                  <a:lnTo>
                    <a:pt x="136509" y="10239"/>
                  </a:lnTo>
                  <a:lnTo>
                    <a:pt x="123747" y="22556"/>
                  </a:lnTo>
                  <a:lnTo>
                    <a:pt x="115569" y="39242"/>
                  </a:lnTo>
                  <a:lnTo>
                    <a:pt x="107338" y="22556"/>
                  </a:lnTo>
                  <a:lnTo>
                    <a:pt x="94583" y="10239"/>
                  </a:lnTo>
                  <a:lnTo>
                    <a:pt x="78351" y="2613"/>
                  </a:lnTo>
                  <a:lnTo>
                    <a:pt x="59689" y="0"/>
                  </a:lnTo>
                  <a:lnTo>
                    <a:pt x="36165" y="4911"/>
                  </a:lnTo>
                  <a:lnTo>
                    <a:pt x="17224" y="17859"/>
                  </a:lnTo>
                  <a:lnTo>
                    <a:pt x="4593" y="36165"/>
                  </a:lnTo>
                  <a:lnTo>
                    <a:pt x="0" y="57150"/>
                  </a:lnTo>
                  <a:lnTo>
                    <a:pt x="198239" y="57150"/>
                  </a:lnTo>
                  <a:lnTo>
                    <a:pt x="300037" y="57150"/>
                  </a:lnTo>
                  <a:lnTo>
                    <a:pt x="337542" y="57150"/>
                  </a:lnTo>
                  <a:lnTo>
                    <a:pt x="342900" y="57150"/>
                  </a:lnTo>
                  <a:lnTo>
                    <a:pt x="338306" y="36165"/>
                  </a:lnTo>
                  <a:lnTo>
                    <a:pt x="325675" y="17859"/>
                  </a:lnTo>
                  <a:lnTo>
                    <a:pt x="306734" y="4911"/>
                  </a:lnTo>
                  <a:lnTo>
                    <a:pt x="28321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8354" y="4555553"/>
            <a:ext cx="114935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49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6155" y="4465891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35" y="1475422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23101" y="4825"/>
            <a:ext cx="460375" cy="6357620"/>
            <a:chOff x="6523101" y="4825"/>
            <a:chExt cx="460375" cy="6357620"/>
          </a:xfrm>
        </p:grpSpPr>
        <p:sp>
          <p:nvSpPr>
            <p:cNvPr id="19" name="object 19"/>
            <p:cNvSpPr/>
            <p:nvPr/>
          </p:nvSpPr>
          <p:spPr>
            <a:xfrm>
              <a:off x="6758051" y="4825"/>
              <a:ext cx="0" cy="6357620"/>
            </a:xfrm>
            <a:custGeom>
              <a:avLst/>
              <a:gdLst/>
              <a:ahLst/>
              <a:cxnLst/>
              <a:rect l="l" t="t" r="r" b="b"/>
              <a:pathLst>
                <a:path h="6357620">
                  <a:moveTo>
                    <a:pt x="0" y="0"/>
                  </a:moveTo>
                  <a:lnTo>
                    <a:pt x="0" y="6357188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4650" y="571499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28575" y="0"/>
                  </a:moveTo>
                  <a:lnTo>
                    <a:pt x="17466" y="1871"/>
                  </a:lnTo>
                  <a:lnTo>
                    <a:pt x="8381" y="6969"/>
                  </a:lnTo>
                  <a:lnTo>
                    <a:pt x="2250" y="14519"/>
                  </a:lnTo>
                  <a:lnTo>
                    <a:pt x="0" y="23749"/>
                  </a:lnTo>
                  <a:lnTo>
                    <a:pt x="2250" y="33051"/>
                  </a:lnTo>
                  <a:lnTo>
                    <a:pt x="8381" y="40640"/>
                  </a:lnTo>
                  <a:lnTo>
                    <a:pt x="17466" y="45751"/>
                  </a:lnTo>
                  <a:lnTo>
                    <a:pt x="28575" y="47625"/>
                  </a:lnTo>
                  <a:lnTo>
                    <a:pt x="39683" y="45751"/>
                  </a:lnTo>
                  <a:lnTo>
                    <a:pt x="48768" y="40640"/>
                  </a:lnTo>
                  <a:lnTo>
                    <a:pt x="54899" y="33051"/>
                  </a:lnTo>
                  <a:lnTo>
                    <a:pt x="57150" y="23749"/>
                  </a:lnTo>
                  <a:lnTo>
                    <a:pt x="54899" y="14519"/>
                  </a:lnTo>
                  <a:lnTo>
                    <a:pt x="48768" y="6969"/>
                  </a:lnTo>
                  <a:lnTo>
                    <a:pt x="39683" y="187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9451" y="2805175"/>
              <a:ext cx="447675" cy="228600"/>
            </a:xfrm>
            <a:custGeom>
              <a:avLst/>
              <a:gdLst/>
              <a:ahLst/>
              <a:cxnLst/>
              <a:rect l="l" t="t" r="r" b="b"/>
              <a:pathLst>
                <a:path w="447675" h="228600">
                  <a:moveTo>
                    <a:pt x="0" y="114300"/>
                  </a:moveTo>
                  <a:lnTo>
                    <a:pt x="8965" y="69758"/>
                  </a:lnTo>
                  <a:lnTo>
                    <a:pt x="33432" y="33432"/>
                  </a:lnTo>
                  <a:lnTo>
                    <a:pt x="69758" y="8965"/>
                  </a:lnTo>
                  <a:lnTo>
                    <a:pt x="114300" y="0"/>
                  </a:lnTo>
                  <a:lnTo>
                    <a:pt x="333375" y="0"/>
                  </a:lnTo>
                  <a:lnTo>
                    <a:pt x="377862" y="8965"/>
                  </a:lnTo>
                  <a:lnTo>
                    <a:pt x="414194" y="33432"/>
                  </a:lnTo>
                  <a:lnTo>
                    <a:pt x="438691" y="69758"/>
                  </a:lnTo>
                  <a:lnTo>
                    <a:pt x="447675" y="114300"/>
                  </a:lnTo>
                  <a:lnTo>
                    <a:pt x="438691" y="158787"/>
                  </a:lnTo>
                  <a:lnTo>
                    <a:pt x="414194" y="195119"/>
                  </a:lnTo>
                  <a:lnTo>
                    <a:pt x="377862" y="219616"/>
                  </a:lnTo>
                  <a:lnTo>
                    <a:pt x="333375" y="228600"/>
                  </a:lnTo>
                  <a:lnTo>
                    <a:pt x="114300" y="228600"/>
                  </a:lnTo>
                  <a:lnTo>
                    <a:pt x="69758" y="219616"/>
                  </a:lnTo>
                  <a:lnTo>
                    <a:pt x="33432" y="195119"/>
                  </a:lnTo>
                  <a:lnTo>
                    <a:pt x="8965" y="158787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096836" y="583405"/>
            <a:ext cx="4030027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spc="-10" dirty="0" smtClean="0"/>
              <a:t>ESTRUCTURA </a:t>
            </a:r>
            <a:endParaRPr sz="4400" dirty="0"/>
          </a:p>
        </p:txBody>
      </p:sp>
      <p:sp>
        <p:nvSpPr>
          <p:cNvPr id="23" name="object 23"/>
          <p:cNvSpPr txBox="1"/>
          <p:nvPr/>
        </p:nvSpPr>
        <p:spPr>
          <a:xfrm>
            <a:off x="4870513" y="595311"/>
            <a:ext cx="331787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EQUIPO</a:t>
            </a:r>
            <a:endParaRPr sz="4400" dirty="0">
              <a:latin typeface="Segoe UI"/>
              <a:cs typeface="Segoe UI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7" b="19721"/>
          <a:stretch/>
        </p:blipFill>
        <p:spPr>
          <a:xfrm>
            <a:off x="0" y="1270814"/>
            <a:ext cx="11763021" cy="4754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499187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438159" y="3311371"/>
            <a:ext cx="2743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35761" y="1499187"/>
            <a:ext cx="5001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419" dirty="0" smtClean="0"/>
          </a:p>
        </p:txBody>
      </p:sp>
      <p:sp>
        <p:nvSpPr>
          <p:cNvPr id="9" name="CuadroTexto 8"/>
          <p:cNvSpPr txBox="1"/>
          <p:nvPr/>
        </p:nvSpPr>
        <p:spPr>
          <a:xfrm>
            <a:off x="99059" y="6103658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smtClean="0"/>
              <a:t>Enlace repo: </a:t>
            </a:r>
            <a:r>
              <a:rPr lang="es-CO" sz="1400" dirty="0" smtClean="0">
                <a:hlinkClick r:id="rId4"/>
              </a:rPr>
              <a:t>https://github.com/RematePos/RematePos</a:t>
            </a:r>
            <a:endParaRPr lang="es-CO" sz="1400" dirty="0" smtClean="0"/>
          </a:p>
          <a:p>
            <a:endParaRPr lang="es-ES" sz="1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9" y="1983245"/>
            <a:ext cx="6248400" cy="273774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3298029" y="114193"/>
            <a:ext cx="87334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dirty="0"/>
              <a:t>E</a:t>
            </a:r>
            <a:r>
              <a:rPr lang="es-419" dirty="0" smtClean="0"/>
              <a:t>n el frontend se avanzó en la construcción y ajuste de las pantallas relacionadas con el flujo de acceso y configuración del sistema. Se implementó la </a:t>
            </a:r>
            <a:r>
              <a:rPr lang="es-419" b="1" dirty="0" smtClean="0"/>
              <a:t>vista de login</a:t>
            </a:r>
            <a:r>
              <a:rPr lang="es-419" dirty="0" smtClean="0"/>
              <a:t>, permitiendo el ingreso de credenciales desde la interfaz y su integración con el servicio de autenticación. También se trabajó en la </a:t>
            </a:r>
            <a:r>
              <a:rPr lang="es-419" b="1" dirty="0" smtClean="0"/>
              <a:t>pantalla de registro</a:t>
            </a:r>
            <a:r>
              <a:rPr lang="es-419" dirty="0" smtClean="0"/>
              <a:t>, dejando lista la base visual y funcional para el manejo de nuevos usuarios dentro del flujo de acceso.</a:t>
            </a:r>
            <a:endParaRPr lang="es-ES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6004" y="1828439"/>
            <a:ext cx="5900738" cy="370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8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13654" y="1530362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438159" y="3311371"/>
            <a:ext cx="2743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3449919" y="81233"/>
            <a:ext cx="8458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dirty="0"/>
              <a:t>S</a:t>
            </a:r>
            <a:r>
              <a:rPr lang="es-419" dirty="0" smtClean="0"/>
              <a:t>e avanzó en la incorporación de nuevas pantallas orientadas al módulo de facturación, pensadas para facilitar operaciones comunes dentro del sistema. Entre ellas se encuentran vistas como </a:t>
            </a:r>
            <a:r>
              <a:rPr lang="es-419" b="1" dirty="0" smtClean="0"/>
              <a:t>copia de factura</a:t>
            </a:r>
            <a:r>
              <a:rPr lang="es-419" dirty="0" smtClean="0"/>
              <a:t>, </a:t>
            </a:r>
            <a:r>
              <a:rPr lang="es-419" b="1" dirty="0" smtClean="0"/>
              <a:t>devoluciones</a:t>
            </a:r>
            <a:r>
              <a:rPr lang="es-419" dirty="0" smtClean="0"/>
              <a:t> y otras relacionadas con la gestión del proceso de venta y postventa y la configuración con el proveedor de factura electrónica.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86140"/>
            <a:ext cx="5385484" cy="321446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007690"/>
            <a:ext cx="6553200" cy="3284792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550385" y="5036405"/>
            <a:ext cx="4343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sz="1600" dirty="0" smtClean="0"/>
              <a:t>. Se desarrolló la vista de Inventario, donde ya es posible visualizar productos registrados, consultar precio y stock, buscar productos y acceder a acciones como editar, eliminar o crear un nuevo producto.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38465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13654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2400"/>
            <a:ext cx="9035317" cy="291153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41" y="2286000"/>
            <a:ext cx="7566979" cy="434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3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55562" y="1755219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28600"/>
            <a:ext cx="7391400" cy="363102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" y="3089862"/>
            <a:ext cx="7010400" cy="3627882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7148035" y="4026640"/>
            <a:ext cx="4953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dirty="0" smtClean="0"/>
              <a:t>También se implementó la pantalla de Nuevo producto, con un formulario que permite capturar nombre, categoría, descripción, precio, stock y URL de imagen; esto deja preparada la base para el registro completo de productos desde la interfaz.</a:t>
            </a:r>
            <a:endParaRPr lang="es-ES" dirty="0"/>
          </a:p>
        </p:txBody>
      </p:sp>
      <p:sp>
        <p:nvSpPr>
          <p:cNvPr id="11" name="Rectángulo 10"/>
          <p:cNvSpPr/>
          <p:nvPr/>
        </p:nvSpPr>
        <p:spPr>
          <a:xfrm>
            <a:off x="117631" y="1745035"/>
            <a:ext cx="45502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sz="1600" dirty="0"/>
              <a:t>S</a:t>
            </a:r>
            <a:r>
              <a:rPr lang="es-419" sz="1600" dirty="0" smtClean="0"/>
              <a:t>e avanzó en la pantalla de Ventas, donde ya se muestra el listado de productos disponibles, la opción de agregarlos al resumen de venta, el cálculo visual del total y la acción para finalizar la venta.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66443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32704" y="1677448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164" y="611892"/>
            <a:ext cx="6710363" cy="358491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25244" y="1801221"/>
            <a:ext cx="5105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dirty="0"/>
              <a:t>S</a:t>
            </a:r>
            <a:r>
              <a:rPr lang="es-419" dirty="0" smtClean="0"/>
              <a:t>e avanzó en la estandarización del arranque del proyecto en Docker, dejando una guía única para ejecutar los microservicios por ambiente. Se organizó la configuración multiambiente para dev, qa, release y main, usando un docker-compose base más overrides por ambiente; además, se definió el uso de archivos .env por cada entorno para facilitar la ejecución y configuración del sistema.</a:t>
            </a:r>
          </a:p>
          <a:p>
            <a:endParaRPr lang="es-419" dirty="0"/>
          </a:p>
          <a:p>
            <a:endParaRPr lang="es-ES" dirty="0"/>
          </a:p>
        </p:txBody>
      </p:sp>
      <p:sp>
        <p:nvSpPr>
          <p:cNvPr id="9" name="Rectángulo 8"/>
          <p:cNvSpPr/>
          <p:nvPr/>
        </p:nvSpPr>
        <p:spPr>
          <a:xfrm>
            <a:off x="99059" y="450391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419" dirty="0"/>
              <a:t>S</a:t>
            </a:r>
            <a:r>
              <a:rPr lang="es-419" dirty="0" smtClean="0"/>
              <a:t>e documentó el proceso de validación mínima del sistema, verificando que los microservicios principales respondan correctamente, especialmente customer y product, junto con la definición de puertos y endpoints por ambiente para pruebas y seguimiento del despliegue.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849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32704" y="1677448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059" y="609600"/>
            <a:ext cx="8610600" cy="566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4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FALTÓ?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304800" y="2209800"/>
            <a:ext cx="896556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dirty="0" smtClean="0"/>
              <a:t>Quedaron pendientes algunos ajustes de integración completa entre las pantallas y los servicios backend, especialmente en la validación final de respuestas, manejo de errores y pruebas completas del flujo entre login, registro e identificación del cliente. También faltan detalles visuales y de experiencia de usuario en algunas vistas, para que la navegación sea más clara y consistente.</a:t>
            </a:r>
          </a:p>
          <a:p>
            <a:r>
              <a:rPr lang="es-419" dirty="0" smtClean="0"/>
              <a:t>Adicionalmente, se requiere terminar de validar la persistencia de sesión, la correcta redirección después del inicio de sesión y la conexión completa de algunas vistas secundarias asociadas a configuración de acceso y facturación.</a:t>
            </a:r>
          </a:p>
          <a:p>
            <a:r>
              <a:rPr lang="es-419" dirty="0" smtClean="0"/>
              <a:t>Por otra parte, aún falta corregir y estabilizar la dockerización de los microservicios, con el fin de asegurar que los servicios puedan levantarse correctamente dentro del entorno definido, mantener su comunicación adecuada y facilitar las pruebas integrales del sistema en una arquitectura distribuida.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3479166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VA A HACER?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381000" y="3781693"/>
            <a:ext cx="93084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81000" y="2209800"/>
            <a:ext cx="93084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Para la siguiente fase se continuará con el desarrollo e integración de funcionalidades pendientes del sistema, tomando como referencia las historias de usuario. Actividades enfocadas en fortalecer los módulos de </a:t>
            </a:r>
            <a:r>
              <a:rPr lang="es-419" b="1" dirty="0" smtClean="0"/>
              <a:t>inventario, ventas y facturación electrónica</a:t>
            </a:r>
            <a:r>
              <a:rPr lang="es-419" dirty="0" smtClean="0"/>
              <a:t>; especialmente en validaciones de integridad, definición e implementación de flujos de venta, validación de stock, sincronización de procesos y reglas de facturación. Además, se avanzará en funcionalidades asociadas a la </a:t>
            </a:r>
            <a:r>
              <a:rPr lang="es-419" b="1" dirty="0" smtClean="0"/>
              <a:t>generación de factura electrónica</a:t>
            </a:r>
            <a:r>
              <a:rPr lang="es-419" dirty="0" smtClean="0"/>
              <a:t>, consumo de servicios relacionados con facturación y estados del proceso, con el fin de seguir consolidando pantallas y flujos más completos dentro del frontend.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212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1970</TotalTime>
  <Words>909</Words>
  <Application>Microsoft Office PowerPoint</Application>
  <PresentationFormat>Panorámica</PresentationFormat>
  <Paragraphs>40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Office Theme</vt:lpstr>
      <vt:lpstr>Presentación de PowerPoint</vt:lpstr>
      <vt:lpstr>INTRODUCCIÓN </vt:lpstr>
      <vt:lpstr>ESTRUCTURA </vt:lpstr>
      <vt:lpstr>¿QUÉ SE HIZO?</vt:lpstr>
      <vt:lpstr>¿QUÉ SE HIZO?</vt:lpstr>
      <vt:lpstr>¿QUÉ SE HIZO?</vt:lpstr>
      <vt:lpstr>¿QUÉ SE HIZO?</vt:lpstr>
      <vt:lpstr>¿QUÉ SE HIZO?</vt:lpstr>
      <vt:lpstr>¿QUÉ SE HIZO?</vt:lpstr>
      <vt:lpstr>¿QUÉ FALTÓ?</vt:lpstr>
      <vt:lpstr>¿QUÉ SE VA A HACER?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Felipe Ardila</dc:creator>
  <cp:lastModifiedBy>USUARIO</cp:lastModifiedBy>
  <cp:revision>71</cp:revision>
  <dcterms:created xsi:type="dcterms:W3CDTF">2026-02-10T14:39:01Z</dcterms:created>
  <dcterms:modified xsi:type="dcterms:W3CDTF">2026-04-23T04:31:26Z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